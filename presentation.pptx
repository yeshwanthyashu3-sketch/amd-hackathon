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38BDF8"/>
                </a:solidFill>
                <a:latin typeface="Outfit"/>
              </a:defRPr>
            </a:pPr>
            <a:r>
              <a:t>ROCm Navigator</a:t>
            </a:r>
          </a:p>
          <a:p>
            <a:pPr algn="ctr">
              <a:spcBef>
                <a:spcPts val="1000"/>
              </a:spcBef>
              <a:defRPr sz="2800">
                <a:solidFill>
                  <a:srgbClr val="F3F4F6"/>
                </a:solidFill>
                <a:latin typeface="Inter"/>
              </a:defRPr>
            </a:pPr>
            <a:r>
              <a:t>Security &amp; Reporting Gateway Module</a:t>
            </a:r>
          </a:p>
          <a:p>
            <a:pPr algn="ctr">
              <a:spcBef>
                <a:spcPts val="2400"/>
              </a:spcBef>
              <a:defRPr sz="1800">
                <a:solidFill>
                  <a:srgbClr val="34D399"/>
                </a:solidFill>
                <a:latin typeface="Inter"/>
              </a:defRPr>
            </a:pPr>
            <a:r>
              <a:t>AMD Instinct™ Hackathon 2026  |  Member 5: Yashwant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Outfit"/>
              </a:defRPr>
            </a:pPr>
            <a:r>
              <a:t>Module Overview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Objective: </a:t>
            </a:r>
            <a:r>
              <a:rPr sz="1600">
                <a:solidFill>
                  <a:srgbClr val="F3F4F6"/>
                </a:solidFill>
                <a:latin typeface="Inter"/>
              </a:rPr>
              <a:t>Enterprise-grade safety gates ensuring migrated GPU code is cryptographically secure and compliance-verified.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Core Pipeline Position: </a:t>
            </a:r>
            <a:r>
              <a:rPr sz="1600">
                <a:solidFill>
                  <a:srgbClr val="F3F4F6"/>
                </a:solidFill>
                <a:latin typeface="Inter"/>
              </a:rPr>
              <a:t>Acts as the first-step validator. No translated files ever reach the LLM Synthesis layer if any secrets or credentials are found.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Modular Infrastructure: </a:t>
            </a:r>
            <a:r>
              <a:rPr sz="1600">
                <a:solidFill>
                  <a:srgbClr val="F3F4F6"/>
                </a:solidFill>
                <a:latin typeface="Inter"/>
              </a:rPr>
              <a:t>Combines Secret Scanning (Trufflehog), Static Analysis (HIP-specific rules), secure storage (TEE Vault), and dynamic SQL database engines.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FastAPI Gateway Service: </a:t>
            </a:r>
            <a:r>
              <a:rPr sz="1600">
                <a:solidFill>
                  <a:srgbClr val="F3F4F6"/>
                </a:solidFill>
                <a:latin typeface="Inter"/>
              </a:rPr>
              <a:t>Exposes Swagger-documented endpoints for real-time compliance audits, reporting, and Git PR automation.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Outfit"/>
              </a:defRPr>
            </a:pPr>
            <a:r>
              <a:t>Phase 1: Secret Scanning &amp; Leak Prevention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Trufflehog Integration: </a:t>
            </a:r>
            <a:r>
              <a:rPr sz="1600">
                <a:solidFill>
                  <a:srgbClr val="F3F4F6"/>
                </a:solidFill>
                <a:latin typeface="Inter"/>
              </a:rPr>
              <a:t>Executes filesystem credentials scans using 'trufflehog filesystem --json' via Python subprocess subprocesses.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JSON Parser: </a:t>
            </a:r>
            <a:r>
              <a:rPr sz="1600">
                <a:solidFill>
                  <a:srgbClr val="F3F4F6"/>
                </a:solidFill>
                <a:latin typeface="Inter"/>
              </a:rPr>
              <a:t>Decodes the structured output into detector, raw, verified state, and filepath elements for granular classification.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Pipeline HALT Signal: </a:t>
            </a:r>
            <a:r>
              <a:rPr sz="1600">
                <a:solidFill>
                  <a:srgbClr val="F3F4F6"/>
                </a:solidFill>
                <a:latin typeface="Inter"/>
              </a:rPr>
              <a:t>Emits a 403 Forbidden error response code if verified credentials/keys are found, completely blocking downstream LLM synthesis.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Robust Fallbacks: </a:t>
            </a:r>
            <a:r>
              <a:rPr sz="1600">
                <a:solidFill>
                  <a:srgbClr val="F3F4F6"/>
                </a:solidFill>
                <a:latin typeface="Inter"/>
              </a:rPr>
              <a:t>Safeguarded with automated presence verification; defaults to graceful skip if binary isn't local (preventing system crashes).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Outfit"/>
              </a:defRPr>
            </a:pPr>
            <a:r>
              <a:t>Phase 2: HIP Static Code Safety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New Scan Endpoint: </a:t>
            </a:r>
            <a:r>
              <a:rPr sz="1600">
                <a:solidFill>
                  <a:srgbClr val="F3F4F6"/>
                </a:solidFill>
                <a:latin typeface="Inter"/>
              </a:rPr>
              <a:t>Built 'POST /api/v1/security/scan' that takes raw code and filename to check translated HIP code for memory safety violations.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HIP-MEM-001 &amp; 002 Rules: </a:t>
            </a:r>
            <a:r>
              <a:rPr sz="1600">
                <a:solidFill>
                  <a:srgbClr val="F3F4F6"/>
                </a:solidFill>
                <a:latin typeface="Inter"/>
              </a:rPr>
              <a:t>Triggers errors for unchecked 'hipMemcpy' and 'hipMalloc' return values, preventing runtime failures.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MEM-PTR-001 Rule: </a:t>
            </a:r>
            <a:r>
              <a:rPr sz="1600">
                <a:solidFill>
                  <a:srgbClr val="F3F4F6"/>
                </a:solidFill>
                <a:latin typeface="Inter"/>
              </a:rPr>
              <a:t>Flags dangerous raw device pointer arithmetic operations that bypass standard compiler array boundaries.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HIP-OOB-001 &amp; 002 Rules: </a:t>
            </a:r>
            <a:r>
              <a:rPr sz="1600">
                <a:solidFill>
                  <a:srgbClr val="F3F4F6"/>
                </a:solidFill>
                <a:latin typeface="Inter"/>
              </a:rPr>
              <a:t>Scans threadIdx/blockIdx offset modifications and dynamic index boundaries to prevent thread out-of-bound errors.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Outfit"/>
              </a:defRPr>
            </a:pPr>
            <a:r>
              <a:t>Phase 3: Simulated TEE Secure Vault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TEE Key Derivation: </a:t>
            </a:r>
            <a:r>
              <a:rPr sz="1600">
                <a:solidFill>
                  <a:srgbClr val="F3F4F6"/>
                </a:solidFill>
                <a:latin typeface="Inter"/>
              </a:rPr>
              <a:t>Simulates AMD TEE (Trusted Execution Environment) hardware security using cryptographic key derivation functions.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PBKDF2 HMAC: </a:t>
            </a:r>
            <a:r>
              <a:rPr sz="1600">
                <a:solidFill>
                  <a:srgbClr val="F3F4F6"/>
                </a:solidFill>
                <a:latin typeface="Inter"/>
              </a:rPr>
              <a:t>Derives secure cryptographic keys using a 16-byte cryptographically-random static salt and 100,000 hashing rounds.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Fernet Symmetric Vault: </a:t>
            </a:r>
            <a:r>
              <a:rPr sz="1600">
                <a:solidFill>
                  <a:srgbClr val="F3F4F6"/>
                </a:solidFill>
                <a:latin typeface="Inter"/>
              </a:rPr>
              <a:t>Encrypts stored secrets (like target repository API keys) symmetrically in a JSON-backed local secure database.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Zero-Disclosure Security: </a:t>
            </a:r>
            <a:r>
              <a:rPr sz="1600">
                <a:solidFill>
                  <a:srgbClr val="F3F4F6"/>
                </a:solidFill>
                <a:latin typeface="Inter"/>
              </a:rPr>
              <a:t>Decryption occurs entirely within memory. Credentials are never written in plain text to the local disk.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Outfit"/>
              </a:defRPr>
            </a:pPr>
            <a:r>
              <a:t>Phase 4: Neon PostgreSQL DB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Auto-Detection Driver: </a:t>
            </a:r>
            <a:r>
              <a:rPr sz="1600">
                <a:solidFill>
                  <a:srgbClr val="F3F4F6"/>
                </a:solidFill>
                <a:latin typeface="Inter"/>
              </a:rPr>
              <a:t>Adapts database engine at startup. Instantly switches from local SQLite to Neon PostgreSQL if NEON_DATABASE_URL environment variable is set.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SQL Dialect Translator: </a:t>
            </a:r>
            <a:r>
              <a:rPr sz="1600">
                <a:solidFill>
                  <a:srgbClr val="F3F4F6"/>
                </a:solidFill>
                <a:latin typeface="Inter"/>
              </a:rPr>
              <a:t>Translates SQL statements dynamically at runtime (SQLite '?' -&gt; Postgres '%s', autoincrements, and upsert conflict clauses).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Structured Schema: </a:t>
            </a:r>
            <a:r>
              <a:rPr sz="1600">
                <a:solidFill>
                  <a:srgbClr val="F3F4F6"/>
                </a:solidFill>
                <a:latin typeface="Inter"/>
              </a:rPr>
              <a:t>Automatically seeds and updates tables ('audit_logs' for event traces, 'security_scans' for runs, 'compiled_reports' for documents).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Cloud Performance: </a:t>
            </a:r>
            <a:r>
              <a:rPr sz="1600">
                <a:solidFill>
                  <a:srgbClr val="F3F4F6"/>
                </a:solidFill>
                <a:latin typeface="Inter"/>
              </a:rPr>
              <a:t>Fully optimized to support connection pooling, SSL encryption requirements, and float precision safety score entries.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Outfit"/>
              </a:defRPr>
            </a:pPr>
            <a:r>
              <a:t>Phase 5: Compliance, Reports &amp;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Multi-Format Report Compiler: </a:t>
            </a:r>
            <a:r>
              <a:rPr sz="1600">
                <a:solidFill>
                  <a:srgbClr val="F3F4F6"/>
                </a:solidFill>
                <a:latin typeface="Inter"/>
              </a:rPr>
              <a:t>Generates high-fidelity PDF (via ReportLab), Markdown, and JSON report bundles summarizing code safety metrics.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OWASP Compliance Verification: </a:t>
            </a:r>
            <a:r>
              <a:rPr sz="1600">
                <a:solidFill>
                  <a:srgbClr val="F3F4F6"/>
                </a:solidFill>
                <a:latin typeface="Inter"/>
              </a:rPr>
              <a:t>Calculates security index score based on a custom compliance matrix mapping out critical vulnerabilities.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SBOM Dependency Inventory: </a:t>
            </a:r>
            <a:r>
              <a:rPr sz="1600">
                <a:solidFill>
                  <a:srgbClr val="F3F4F6"/>
                </a:solidFill>
                <a:latin typeface="Inter"/>
              </a:rPr>
              <a:t>Lists and audits third-party package dependencies and licenses to guarantee licensing compliance.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GitHub PR Automation: </a:t>
            </a:r>
            <a:r>
              <a:rPr sz="1600">
                <a:solidFill>
                  <a:srgbClr val="F3F4F6"/>
                </a:solidFill>
                <a:latin typeface="Inter"/>
              </a:rPr>
              <a:t>Automates git branch creation, stages, commits, and uses GITHUB_TOKEN to push branches and open pull requests.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Outfit"/>
              </a:defRPr>
            </a:pPr>
            <a:r>
              <a:t>Verification &amp; Testing (100% Green)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72 / 72 Pytest Suite: </a:t>
            </a:r>
            <a:r>
              <a:rPr sz="1600">
                <a:solidFill>
                  <a:srgbClr val="F3F4F6"/>
                </a:solidFill>
                <a:latin typeface="Inter"/>
              </a:rPr>
              <a:t>100% passing tests checking all modules: SecurityAgent, ReportsAgent, TEE Vault, SQLite, Neon PG, and FastAPI server.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Cloud Database Testing: </a:t>
            </a:r>
            <a:r>
              <a:rPr sz="1600">
                <a:solidFill>
                  <a:srgbClr val="F3F4F6"/>
                </a:solidFill>
                <a:latin typeface="Inter"/>
              </a:rPr>
              <a:t>Hardened test isolation utilizing unique row markers to safely run concurrent tests against the shared Neon PostgreSQL DB.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CORS Verification: </a:t>
            </a:r>
            <a:r>
              <a:rPr sz="1600">
                <a:solidFill>
                  <a:srgbClr val="F3F4F6"/>
                </a:solidFill>
                <a:latin typeface="Inter"/>
              </a:rPr>
              <a:t>Verified CORS setup with '*' wildcard, enabling smooth integration with the Next.js frontend dashboard.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Inter"/>
              </a:rPr>
              <a:t>•  Deployment Verified: </a:t>
            </a:r>
            <a:r>
              <a:rPr sz="1600">
                <a:solidFill>
                  <a:srgbClr val="F3F4F6"/>
                </a:solidFill>
                <a:latin typeface="Inter"/>
              </a:rPr>
              <a:t>Successful branch commit and push to remote repository. Connected environment is fully optimized for cloud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